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9E5-1BE2-4638-B741-FA48EC6CC3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A5CC70-EF5E-450A-9A85-89094926F1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0995A-0253-4EED-8B3B-2A01C6C22A4C}"/>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5" name="Footer Placeholder 4">
            <a:extLst>
              <a:ext uri="{FF2B5EF4-FFF2-40B4-BE49-F238E27FC236}">
                <a16:creationId xmlns:a16="http://schemas.microsoft.com/office/drawing/2014/main" id="{C42EC256-6B88-45C5-955C-1C8891D9A1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70141-40BE-4807-83E6-11D071290DAD}"/>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2895577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0C40-32D7-4081-9972-730CB70C5C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D559EF-B458-4E36-A251-833075D283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495280-5526-4EE7-981C-BBE8EF91C671}"/>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5" name="Footer Placeholder 4">
            <a:extLst>
              <a:ext uri="{FF2B5EF4-FFF2-40B4-BE49-F238E27FC236}">
                <a16:creationId xmlns:a16="http://schemas.microsoft.com/office/drawing/2014/main" id="{D022F668-535C-428C-850F-BEF75BA53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12580-DD52-4497-AA27-74AE46EEAFB3}"/>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150733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1A91F-5EA4-4406-B5CF-558D81FC7A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CA4E12-92C7-4C81-B32C-CCDF7F1332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DF7DEE-C4AD-4D50-9837-3177E2A59519}"/>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5" name="Footer Placeholder 4">
            <a:extLst>
              <a:ext uri="{FF2B5EF4-FFF2-40B4-BE49-F238E27FC236}">
                <a16:creationId xmlns:a16="http://schemas.microsoft.com/office/drawing/2014/main" id="{8BF67DF6-F997-4671-A38A-C36A2B07D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945E63-3AD1-4800-8029-0713C4B4042E}"/>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3923769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C261A-79DE-426E-AB33-D04E9A9655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5A0F49-0AFD-46F2-9A72-A08975019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EADAF9-F07B-4261-BF3E-F5B866127C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01EAA-C68D-4284-9308-6FC24E0EF0E1}"/>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6" name="Footer Placeholder 5">
            <a:extLst>
              <a:ext uri="{FF2B5EF4-FFF2-40B4-BE49-F238E27FC236}">
                <a16:creationId xmlns:a16="http://schemas.microsoft.com/office/drawing/2014/main" id="{A51B492C-E382-4240-A1FB-0003E43703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74C1FC-3CA2-4171-9728-E49C8B20F27D}"/>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2423571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90BF-18E7-442E-AF01-D0F9D878F1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9B4B52-53A1-4600-AE44-767EA06C8A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37492-5B6B-4D17-9BE9-4BC5D2A98E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2262CC-4538-46B0-A19C-30847839DE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88BA5C-E1D5-4009-992A-81C2FF0525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6EF9C3-BA46-43CA-8FFC-448CE32E5002}"/>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8" name="Footer Placeholder 7">
            <a:extLst>
              <a:ext uri="{FF2B5EF4-FFF2-40B4-BE49-F238E27FC236}">
                <a16:creationId xmlns:a16="http://schemas.microsoft.com/office/drawing/2014/main" id="{4D3AB350-4126-4E9B-A2EC-7BEE60EFAD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DC954C-255D-4F1C-9876-61B12390349A}"/>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3375300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BEA94-3BE7-494C-8214-F9054A6F88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AF5654-F28F-4295-98D8-A5270E78D539}"/>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4" name="Footer Placeholder 3">
            <a:extLst>
              <a:ext uri="{FF2B5EF4-FFF2-40B4-BE49-F238E27FC236}">
                <a16:creationId xmlns:a16="http://schemas.microsoft.com/office/drawing/2014/main" id="{8D96BDFC-099D-4AB6-8382-5144B63940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5C5FA2-B490-4AAF-AB3A-F60EE93C9C30}"/>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4007090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1A5C58-D3D4-4643-A696-205FB9162BDB}"/>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3" name="Footer Placeholder 2">
            <a:extLst>
              <a:ext uri="{FF2B5EF4-FFF2-40B4-BE49-F238E27FC236}">
                <a16:creationId xmlns:a16="http://schemas.microsoft.com/office/drawing/2014/main" id="{548DE314-8863-441F-AB30-3F7A1276DD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F67801-D2F7-4328-9E27-EB4FFD49D730}"/>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414499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FC7E-3292-4C5F-A867-66DE543315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DFD690-6199-4942-9EE5-F0DEB2A645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10071C-F6A5-44D1-9D4C-72CEBFD99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B1C487-4624-40E9-A287-1659801C3AA2}"/>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6" name="Footer Placeholder 5">
            <a:extLst>
              <a:ext uri="{FF2B5EF4-FFF2-40B4-BE49-F238E27FC236}">
                <a16:creationId xmlns:a16="http://schemas.microsoft.com/office/drawing/2014/main" id="{DF44A66E-C584-4768-9744-6101020156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EFDE2A-F205-4A07-8D59-AFB64E8A20AA}"/>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344173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3929F-15E2-47BF-B0C1-8311C2297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2498C6-D656-44CC-A30E-A81D2EEE5D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11259A-C0BB-43F4-8063-3B8625F561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6BD121-5D0C-48CC-83D9-2A5F7B18126B}"/>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6" name="Footer Placeholder 5">
            <a:extLst>
              <a:ext uri="{FF2B5EF4-FFF2-40B4-BE49-F238E27FC236}">
                <a16:creationId xmlns:a16="http://schemas.microsoft.com/office/drawing/2014/main" id="{88795172-787B-4F77-BF0B-50945B27C9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E052D4-1E25-4449-AD9B-6FE345D4529E}"/>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368334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0C1B-C42A-40C4-86D3-A415C2963B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C4AA94-75A1-4D65-AAD3-4C8F5DB5A2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B5814-5004-45CE-8C4E-94CE925A8FCB}"/>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5" name="Footer Placeholder 4">
            <a:extLst>
              <a:ext uri="{FF2B5EF4-FFF2-40B4-BE49-F238E27FC236}">
                <a16:creationId xmlns:a16="http://schemas.microsoft.com/office/drawing/2014/main" id="{78AA3506-4576-4446-A963-7DCCA1750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6646DE-FE8B-433C-84D5-C1CC6387B792}"/>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125587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C65D15-760E-4F12-A392-223460A4D2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3CDCE1-B87E-4437-85A4-C06B25F210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08B33-3C26-4326-8EFF-C6D54A663FE6}"/>
              </a:ext>
            </a:extLst>
          </p:cNvPr>
          <p:cNvSpPr>
            <a:spLocks noGrp="1"/>
          </p:cNvSpPr>
          <p:nvPr>
            <p:ph type="dt" sz="half" idx="10"/>
          </p:nvPr>
        </p:nvSpPr>
        <p:spPr/>
        <p:txBody>
          <a:bodyPr/>
          <a:lstStyle/>
          <a:p>
            <a:fld id="{8E0C95F4-3924-4FA6-8E6C-9D21E39D9811}" type="datetimeFigureOut">
              <a:rPr lang="en-US" smtClean="0"/>
              <a:t>3/9/2021</a:t>
            </a:fld>
            <a:endParaRPr lang="en-US"/>
          </a:p>
        </p:txBody>
      </p:sp>
      <p:sp>
        <p:nvSpPr>
          <p:cNvPr id="5" name="Footer Placeholder 4">
            <a:extLst>
              <a:ext uri="{FF2B5EF4-FFF2-40B4-BE49-F238E27FC236}">
                <a16:creationId xmlns:a16="http://schemas.microsoft.com/office/drawing/2014/main" id="{65CD78DA-C5A6-4EB4-B885-0839DFAC09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8A1559-F7FA-4360-9180-A7B1B3AEDD0D}"/>
              </a:ext>
            </a:extLst>
          </p:cNvPr>
          <p:cNvSpPr>
            <a:spLocks noGrp="1"/>
          </p:cNvSpPr>
          <p:nvPr>
            <p:ph type="sldNum" sz="quarter" idx="12"/>
          </p:nvPr>
        </p:nvSpPr>
        <p:spPr/>
        <p:txBody>
          <a:bodyPr/>
          <a:lstStyle/>
          <a:p>
            <a:fld id="{7DC55376-0D60-4CB0-8D29-230AB8A71B4B}" type="slidenum">
              <a:rPr lang="en-US" smtClean="0"/>
              <a:t>‹#›</a:t>
            </a:fld>
            <a:endParaRPr lang="en-US"/>
          </a:p>
        </p:txBody>
      </p:sp>
    </p:spTree>
    <p:extLst>
      <p:ext uri="{BB962C8B-B14F-4D97-AF65-F5344CB8AC3E}">
        <p14:creationId xmlns:p14="http://schemas.microsoft.com/office/powerpoint/2010/main" val="73322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F02F26-A314-4906-B63C-1D0257EDDF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A02DC7-9ECA-498A-AAC7-A00EA0FE6C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E2E2C-C42D-46BA-A6D3-02BDD30D5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0C95F4-3924-4FA6-8E6C-9D21E39D9811}" type="datetimeFigureOut">
              <a:rPr lang="en-US" smtClean="0"/>
              <a:t>3/9/2021</a:t>
            </a:fld>
            <a:endParaRPr lang="en-US"/>
          </a:p>
        </p:txBody>
      </p:sp>
      <p:sp>
        <p:nvSpPr>
          <p:cNvPr id="5" name="Footer Placeholder 4">
            <a:extLst>
              <a:ext uri="{FF2B5EF4-FFF2-40B4-BE49-F238E27FC236}">
                <a16:creationId xmlns:a16="http://schemas.microsoft.com/office/drawing/2014/main" id="{69FAD596-6196-47D3-9C04-B298F9B81D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E689A9-901E-4C6C-9F60-76A3C22CBB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55376-0D60-4CB0-8D29-230AB8A71B4B}" type="slidenum">
              <a:rPr lang="en-US" smtClean="0"/>
              <a:t>‹#›</a:t>
            </a:fld>
            <a:endParaRPr lang="en-US"/>
          </a:p>
        </p:txBody>
      </p:sp>
    </p:spTree>
    <p:extLst>
      <p:ext uri="{BB962C8B-B14F-4D97-AF65-F5344CB8AC3E}">
        <p14:creationId xmlns:p14="http://schemas.microsoft.com/office/powerpoint/2010/main" val="2176896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B5728-B76B-407F-BF88-185C50F81232}"/>
              </a:ext>
            </a:extLst>
          </p:cNvPr>
          <p:cNvSpPr>
            <a:spLocks noGrp="1"/>
          </p:cNvSpPr>
          <p:nvPr>
            <p:ph type="ctrTitle"/>
          </p:nvPr>
        </p:nvSpPr>
        <p:spPr>
          <a:xfrm>
            <a:off x="1681480" y="781362"/>
            <a:ext cx="8664271" cy="717509"/>
          </a:xfrm>
        </p:spPr>
        <p:txBody>
          <a:bodyPr>
            <a:normAutofit/>
          </a:bodyPr>
          <a:lstStyle/>
          <a:p>
            <a:r>
              <a:rPr lang="en-US" sz="2000" dirty="0"/>
              <a:t>Overall score is high for FC Barcelona. overall score ranges from 61-94 while age of players is between 18 and 31.</a:t>
            </a:r>
          </a:p>
        </p:txBody>
      </p:sp>
      <p:pic>
        <p:nvPicPr>
          <p:cNvPr id="5" name="Picture 4">
            <a:extLst>
              <a:ext uri="{FF2B5EF4-FFF2-40B4-BE49-F238E27FC236}">
                <a16:creationId xmlns:a16="http://schemas.microsoft.com/office/drawing/2014/main" id="{4584CCB2-7BB8-4DA1-A5E0-E4EA7A1D6B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336" y="1960757"/>
            <a:ext cx="8544560" cy="4372457"/>
          </a:xfrm>
          <a:prstGeom prst="rect">
            <a:avLst/>
          </a:prstGeom>
        </p:spPr>
      </p:pic>
    </p:spTree>
    <p:extLst>
      <p:ext uri="{BB962C8B-B14F-4D97-AF65-F5344CB8AC3E}">
        <p14:creationId xmlns:p14="http://schemas.microsoft.com/office/powerpoint/2010/main" val="4265154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AD11E-6E60-4130-A937-F2C153B05195}"/>
              </a:ext>
            </a:extLst>
          </p:cNvPr>
          <p:cNvSpPr>
            <a:spLocks noGrp="1"/>
          </p:cNvSpPr>
          <p:nvPr>
            <p:ph type="title"/>
          </p:nvPr>
        </p:nvSpPr>
        <p:spPr>
          <a:xfrm>
            <a:off x="838200" y="262345"/>
            <a:ext cx="10691191" cy="1324928"/>
          </a:xfrm>
        </p:spPr>
        <p:txBody>
          <a:bodyPr>
            <a:normAutofit/>
          </a:bodyPr>
          <a:lstStyle/>
          <a:p>
            <a:r>
              <a:rPr lang="en-US" sz="2000" b="1" dirty="0"/>
              <a:t>Distribution of overall score                                                                    Pair plot  </a:t>
            </a:r>
          </a:p>
        </p:txBody>
      </p:sp>
      <p:pic>
        <p:nvPicPr>
          <p:cNvPr id="9" name="Content Placeholder 8">
            <a:extLst>
              <a:ext uri="{FF2B5EF4-FFF2-40B4-BE49-F238E27FC236}">
                <a16:creationId xmlns:a16="http://schemas.microsoft.com/office/drawing/2014/main" id="{73380A8B-863E-4C6E-9EBD-AAC7B3B316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300" y="2628741"/>
            <a:ext cx="5570538" cy="2893934"/>
          </a:xfrm>
        </p:spPr>
      </p:pic>
      <p:pic>
        <p:nvPicPr>
          <p:cNvPr id="11" name="Picture 10">
            <a:extLst>
              <a:ext uri="{FF2B5EF4-FFF2-40B4-BE49-F238E27FC236}">
                <a16:creationId xmlns:a16="http://schemas.microsoft.com/office/drawing/2014/main" id="{4EEAF144-D10D-4FEC-A38B-E0277F8D78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391479"/>
            <a:ext cx="5838908" cy="5224006"/>
          </a:xfrm>
          <a:prstGeom prst="rect">
            <a:avLst/>
          </a:prstGeom>
        </p:spPr>
      </p:pic>
    </p:spTree>
    <p:extLst>
      <p:ext uri="{BB962C8B-B14F-4D97-AF65-F5344CB8AC3E}">
        <p14:creationId xmlns:p14="http://schemas.microsoft.com/office/powerpoint/2010/main" val="4123358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B4E98-52FF-4BC2-83D6-8B40CA3A7B4C}"/>
              </a:ext>
            </a:extLst>
          </p:cNvPr>
          <p:cNvSpPr>
            <a:spLocks noGrp="1"/>
          </p:cNvSpPr>
          <p:nvPr>
            <p:ph type="title"/>
          </p:nvPr>
        </p:nvSpPr>
        <p:spPr>
          <a:xfrm>
            <a:off x="838200" y="365125"/>
            <a:ext cx="10515600" cy="732155"/>
          </a:xfrm>
        </p:spPr>
        <p:txBody>
          <a:bodyPr>
            <a:normAutofit/>
          </a:bodyPr>
          <a:lstStyle/>
          <a:p>
            <a:r>
              <a:rPr lang="en-IN" sz="1800" dirty="0">
                <a:latin typeface="Liberation Serif"/>
                <a:ea typeface="WenQuanYi Micro Hei"/>
                <a:cs typeface="Lohit Devanagari"/>
              </a:rPr>
              <a:t>T</a:t>
            </a:r>
            <a:r>
              <a:rPr lang="en-IN" sz="1800" dirty="0">
                <a:effectLst/>
                <a:latin typeface="Liberation Serif"/>
                <a:ea typeface="WenQuanYi Micro Hei"/>
                <a:cs typeface="Lohit Devanagari"/>
              </a:rPr>
              <a:t>op 20 players ranked by Overall score and whose contract expires in 2020 are shown in below figure:</a:t>
            </a:r>
            <a:endParaRPr lang="en-US" sz="1800" dirty="0"/>
          </a:p>
        </p:txBody>
      </p:sp>
      <p:pic>
        <p:nvPicPr>
          <p:cNvPr id="5" name="Content Placeholder 4">
            <a:extLst>
              <a:ext uri="{FF2B5EF4-FFF2-40B4-BE49-F238E27FC236}">
                <a16:creationId xmlns:a16="http://schemas.microsoft.com/office/drawing/2014/main" id="{0036CBA3-3EA4-4456-9239-E6D6D6CE4B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0154" y="1216550"/>
            <a:ext cx="10391691" cy="5405686"/>
          </a:xfrm>
        </p:spPr>
      </p:pic>
    </p:spTree>
    <p:extLst>
      <p:ext uri="{BB962C8B-B14F-4D97-AF65-F5344CB8AC3E}">
        <p14:creationId xmlns:p14="http://schemas.microsoft.com/office/powerpoint/2010/main" val="21391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8147-073D-456D-82D7-4ED775D8B79C}"/>
              </a:ext>
            </a:extLst>
          </p:cNvPr>
          <p:cNvSpPr>
            <a:spLocks noGrp="1"/>
          </p:cNvSpPr>
          <p:nvPr>
            <p:ph type="title"/>
          </p:nvPr>
        </p:nvSpPr>
        <p:spPr>
          <a:xfrm>
            <a:off x="1399428" y="449650"/>
            <a:ext cx="9238753" cy="1241038"/>
          </a:xfrm>
        </p:spPr>
        <p:txBody>
          <a:bodyPr>
            <a:normAutofit/>
          </a:bodyPr>
          <a:lstStyle/>
          <a:p>
            <a:r>
              <a:rPr lang="en-US" sz="2000" b="1" dirty="0"/>
              <a:t>Correlation of overall score and value of top 20 players is shown from below heatmap. </a:t>
            </a:r>
            <a:br>
              <a:rPr lang="en-US" sz="2000" b="1" dirty="0"/>
            </a:br>
            <a:r>
              <a:rPr lang="en-US" sz="2000" b="1" dirty="0"/>
              <a:t>Overall score is highly correlated  with Value with magnitude of 0.79.</a:t>
            </a:r>
          </a:p>
        </p:txBody>
      </p:sp>
      <p:pic>
        <p:nvPicPr>
          <p:cNvPr id="5" name="Content Placeholder 4">
            <a:extLst>
              <a:ext uri="{FF2B5EF4-FFF2-40B4-BE49-F238E27FC236}">
                <a16:creationId xmlns:a16="http://schemas.microsoft.com/office/drawing/2014/main" id="{54A8E9D3-8E83-4CCF-8021-3354469195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8362" y="1690688"/>
            <a:ext cx="7011193" cy="4802187"/>
          </a:xfrm>
        </p:spPr>
      </p:pic>
    </p:spTree>
    <p:extLst>
      <p:ext uri="{BB962C8B-B14F-4D97-AF65-F5344CB8AC3E}">
        <p14:creationId xmlns:p14="http://schemas.microsoft.com/office/powerpoint/2010/main" val="4207208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81CA8-65FC-4920-A35C-159BDB18A903}"/>
              </a:ext>
            </a:extLst>
          </p:cNvPr>
          <p:cNvSpPr>
            <a:spLocks noGrp="1"/>
          </p:cNvSpPr>
          <p:nvPr>
            <p:ph type="title"/>
          </p:nvPr>
        </p:nvSpPr>
        <p:spPr>
          <a:xfrm>
            <a:off x="838200" y="1025084"/>
            <a:ext cx="10515600" cy="692398"/>
          </a:xfrm>
        </p:spPr>
        <p:txBody>
          <a:bodyPr>
            <a:normAutofit/>
          </a:bodyPr>
          <a:lstStyle/>
          <a:p>
            <a:r>
              <a:rPr lang="en-US" sz="2800" b="1" dirty="0"/>
              <a:t>CONCLUSION</a:t>
            </a:r>
            <a:r>
              <a:rPr lang="en-US" sz="2400" b="1" dirty="0"/>
              <a:t>:</a:t>
            </a:r>
          </a:p>
        </p:txBody>
      </p:sp>
      <p:sp>
        <p:nvSpPr>
          <p:cNvPr id="3" name="Content Placeholder 2">
            <a:extLst>
              <a:ext uri="{FF2B5EF4-FFF2-40B4-BE49-F238E27FC236}">
                <a16:creationId xmlns:a16="http://schemas.microsoft.com/office/drawing/2014/main" id="{4693BDDA-3857-4643-B4FB-9B29B17B5C9D}"/>
              </a:ext>
            </a:extLst>
          </p:cNvPr>
          <p:cNvSpPr>
            <a:spLocks noGrp="1"/>
          </p:cNvSpPr>
          <p:nvPr>
            <p:ph idx="1"/>
          </p:nvPr>
        </p:nvSpPr>
        <p:spPr>
          <a:xfrm>
            <a:off x="838200" y="2297927"/>
            <a:ext cx="10515600" cy="5000170"/>
          </a:xfrm>
        </p:spPr>
        <p:txBody>
          <a:bodyPr>
            <a:normAutofit/>
          </a:bodyPr>
          <a:lstStyle/>
          <a:p>
            <a:r>
              <a:rPr lang="en-IN" sz="2000" dirty="0">
                <a:effectLst/>
                <a:latin typeface="Liberation Serif"/>
                <a:ea typeface="WenQuanYi Micro Hei"/>
                <a:cs typeface="Lohit Devanagari"/>
              </a:rPr>
              <a:t>The data contains details for over 18,000 players playing in various football clubs in Europe. It contains information on age, skill rating, wages and player value, etc.</a:t>
            </a:r>
          </a:p>
          <a:p>
            <a:r>
              <a:rPr lang="en-US" sz="2000" dirty="0"/>
              <a:t>Data preprocessing is done by importing libraries, converting data types of several variables, dropped some columns which are not necessary, checked for missing values ,mean imputation is done for the necessary one.</a:t>
            </a:r>
          </a:p>
          <a:p>
            <a:r>
              <a:rPr lang="en-IN" sz="2000" kern="100" dirty="0">
                <a:effectLst/>
                <a:latin typeface="Liberation Serif"/>
                <a:ea typeface="WenQuanYi Micro Hei"/>
                <a:cs typeface="Lohit Devanagari"/>
              </a:rPr>
              <a:t>Plotted distribution of Overall rating for all players. Generated pair plots for the following variables (Overall, Value, Wage, International Reputation, Height, Weight, Release Clause)</a:t>
            </a:r>
          </a:p>
          <a:p>
            <a:r>
              <a:rPr lang="en-IN" sz="2000" dirty="0">
                <a:latin typeface="Liberation Serif"/>
                <a:ea typeface="WenQuanYi Micro Hei"/>
                <a:cs typeface="Lohit Devanagari"/>
              </a:rPr>
              <a:t>T</a:t>
            </a:r>
            <a:r>
              <a:rPr lang="en-IN" sz="2000" dirty="0">
                <a:effectLst/>
                <a:latin typeface="Liberation Serif"/>
                <a:ea typeface="WenQuanYi Micro Hei"/>
                <a:cs typeface="Lohit Devanagari"/>
              </a:rPr>
              <a:t>op 20 players ranked by Overall score and whose contract expires in 2020 are tabulated in slide 3.</a:t>
            </a:r>
          </a:p>
          <a:p>
            <a:r>
              <a:rPr lang="en-IN" sz="2000" kern="100" dirty="0">
                <a:effectLst/>
                <a:latin typeface="Liberation Serif"/>
                <a:ea typeface="WenQuanYi Micro Hei"/>
                <a:cs typeface="Lohit Devanagari"/>
              </a:rPr>
              <a:t>This data contains information about the </a:t>
            </a:r>
            <a:r>
              <a:rPr lang="en-IN" sz="2000" kern="100" dirty="0" err="1">
                <a:effectLst/>
                <a:latin typeface="Liberation Serif"/>
                <a:ea typeface="WenQuanYi Micro Hei"/>
                <a:cs typeface="Lohit Devanagari"/>
              </a:rPr>
              <a:t>palyers</a:t>
            </a:r>
            <a:r>
              <a:rPr lang="en-IN" sz="2000" kern="100" dirty="0">
                <a:effectLst/>
                <a:latin typeface="Liberation Serif"/>
                <a:ea typeface="WenQuanYi Micro Hei"/>
                <a:cs typeface="Lohit Devanagari"/>
              </a:rPr>
              <a:t>, the clubs they are currently playing for and various performance measures.</a:t>
            </a:r>
            <a:endParaRPr lang="en-US" sz="2000" kern="100" dirty="0">
              <a:effectLst/>
              <a:latin typeface="Liberation Serif"/>
              <a:ea typeface="WenQuanYi Micro Hei"/>
              <a:cs typeface="Lohit Devanagari"/>
            </a:endParaRPr>
          </a:p>
          <a:p>
            <a:r>
              <a:rPr lang="en-IN" sz="2000" kern="100" dirty="0">
                <a:latin typeface="Liberation Serif"/>
                <a:ea typeface="WenQuanYi Micro Hei"/>
                <a:cs typeface="Lohit Devanagari"/>
              </a:rPr>
              <a:t>These are the conclusions made from exploratory analysis.</a:t>
            </a:r>
            <a:endParaRPr lang="en-US" sz="2000" kern="100" dirty="0">
              <a:effectLst/>
              <a:latin typeface="Liberation Serif"/>
              <a:ea typeface="WenQuanYi Micro Hei"/>
              <a:cs typeface="Lohit Devanagari"/>
            </a:endParaRPr>
          </a:p>
        </p:txBody>
      </p:sp>
    </p:spTree>
    <p:extLst>
      <p:ext uri="{BB962C8B-B14F-4D97-AF65-F5344CB8AC3E}">
        <p14:creationId xmlns:p14="http://schemas.microsoft.com/office/powerpoint/2010/main" val="2758307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229</Words>
  <Application>Microsoft Office PowerPoint</Application>
  <PresentationFormat>Widescreen</PresentationFormat>
  <Paragraphs>11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Liberation Serif</vt:lpstr>
      <vt:lpstr>Office Theme</vt:lpstr>
      <vt:lpstr>Overall score is high for FC Barcelona. overall score ranges from 61-94 while age of players is between 18 and 31.</vt:lpstr>
      <vt:lpstr>Distribution of overall score                                                                    Pair plot  </vt:lpstr>
      <vt:lpstr>Top 20 players ranked by Overall score and whose contract expires in 2020 are shown in below figure:</vt:lpstr>
      <vt:lpstr>Correlation of overall score and value of top 20 players is shown from below heatmap.  Overall score is highly correlated  with Value with magnitude of 0.79.</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shankar gadepalli</dc:creator>
  <cp:lastModifiedBy>shankar gadepalli</cp:lastModifiedBy>
  <cp:revision>10</cp:revision>
  <dcterms:created xsi:type="dcterms:W3CDTF">2021-03-09T06:53:42Z</dcterms:created>
  <dcterms:modified xsi:type="dcterms:W3CDTF">2021-03-09T09:53:33Z</dcterms:modified>
</cp:coreProperties>
</file>